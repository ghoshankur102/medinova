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0" r:id="rId4"/>
    <p:sldId id="258" r:id="rId5"/>
    <p:sldId id="281" r:id="rId6"/>
    <p:sldId id="263" r:id="rId7"/>
    <p:sldId id="259" r:id="rId8"/>
    <p:sldId id="261" r:id="rId9"/>
    <p:sldId id="275" r:id="rId10"/>
    <p:sldId id="269" r:id="rId11"/>
    <p:sldId id="262" r:id="rId12"/>
    <p:sldId id="279" r:id="rId13"/>
    <p:sldId id="266" r:id="rId14"/>
    <p:sldId id="272" r:id="rId15"/>
    <p:sldId id="268" r:id="rId16"/>
    <p:sldId id="273" r:id="rId17"/>
    <p:sldId id="271" r:id="rId18"/>
    <p:sldId id="274" r:id="rId19"/>
    <p:sldId id="270" r:id="rId20"/>
    <p:sldId id="276" r:id="rId21"/>
    <p:sldId id="277" r:id="rId22"/>
    <p:sldId id="278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00FF"/>
    <a:srgbClr val="6600CC"/>
    <a:srgbClr val="660033"/>
    <a:srgbClr val="F5DBF2"/>
    <a:srgbClr val="D3F5D7"/>
    <a:srgbClr val="FFFFCC"/>
    <a:srgbClr val="9900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E233EA-F455-4D74-A414-F77CD3B877E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5CFC3E-9C45-47F8-9B7B-8CE6CFD7BA67}" type="pres">
      <dgm:prSet presAssocID="{DAE233EA-F455-4D74-A414-F77CD3B877EF}" presName="diagram" presStyleCnt="0">
        <dgm:presLayoutVars>
          <dgm:dir/>
          <dgm:resizeHandles val="exact"/>
        </dgm:presLayoutVars>
      </dgm:prSet>
      <dgm:spPr/>
    </dgm:pt>
  </dgm:ptLst>
  <dgm:cxnLst>
    <dgm:cxn modelId="{C7F95239-9E1A-4274-ADAD-DB282AB00412}" type="presOf" srcId="{DAE233EA-F455-4D74-A414-F77CD3B877EF}" destId="{7C5CFC3E-9C45-47F8-9B7B-8CE6CFD7BA6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4205A9-F719-4F46-8B62-B610ACAB879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8B2FF66-4659-4509-88C1-CB23025F4F0C}">
      <dgm:prSet phldrT="[Text]" phldr="0"/>
      <dgm:spPr>
        <a:solidFill>
          <a:srgbClr val="FFFFCC"/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b="1" dirty="0">
              <a:ln>
                <a:noFill/>
              </a:ln>
              <a:solidFill>
                <a:schemeClr val="tx1"/>
              </a:solidFill>
            </a:rPr>
            <a:t>Medical Report</a:t>
          </a:r>
          <a:endParaRPr lang="en-IN" b="1" dirty="0">
            <a:ln>
              <a:noFill/>
            </a:ln>
            <a:solidFill>
              <a:schemeClr val="tx1"/>
            </a:solidFill>
          </a:endParaRPr>
        </a:p>
      </dgm:t>
    </dgm:pt>
    <dgm:pt modelId="{80534F21-DD64-4504-8FFC-C99781BABCDF}" type="parTrans" cxnId="{6B3AB2E9-391D-4A7A-8A02-FF6390585A88}">
      <dgm:prSet/>
      <dgm:spPr/>
      <dgm:t>
        <a:bodyPr/>
        <a:lstStyle/>
        <a:p>
          <a:endParaRPr lang="en-IN"/>
        </a:p>
      </dgm:t>
    </dgm:pt>
    <dgm:pt modelId="{7FD6BE6B-F0A7-4C3A-8AF0-EB4F963CEE0D}" type="sibTrans" cxnId="{6B3AB2E9-391D-4A7A-8A02-FF6390585A88}">
      <dgm:prSet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endParaRPr lang="en-IN" dirty="0"/>
        </a:p>
      </dgm:t>
    </dgm:pt>
    <dgm:pt modelId="{D90DD08F-0C2F-4180-B16F-3CC4D512831A}">
      <dgm:prSet phldrT="[Text]" phldr="0"/>
      <dgm:spPr>
        <a:solidFill>
          <a:srgbClr val="FFFFCC"/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Visual  Abnormality</a:t>
          </a:r>
          <a:endParaRPr lang="en-IN" b="1" dirty="0">
            <a:solidFill>
              <a:schemeClr val="tx1"/>
            </a:solidFill>
          </a:endParaRPr>
        </a:p>
      </dgm:t>
    </dgm:pt>
    <dgm:pt modelId="{DFE81DD5-5BF6-4342-8C50-968E9AED2B6F}" type="parTrans" cxnId="{C95CFCB5-4A34-4066-8FC2-7A0CA609454A}">
      <dgm:prSet/>
      <dgm:spPr/>
      <dgm:t>
        <a:bodyPr/>
        <a:lstStyle/>
        <a:p>
          <a:endParaRPr lang="en-IN"/>
        </a:p>
      </dgm:t>
    </dgm:pt>
    <dgm:pt modelId="{6283391F-CD2F-4BB8-A1C9-3A059EF06602}" type="sibTrans" cxnId="{C95CFCB5-4A34-4066-8FC2-7A0CA609454A}">
      <dgm:prSet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endParaRPr lang="en-IN" dirty="0"/>
        </a:p>
      </dgm:t>
    </dgm:pt>
    <dgm:pt modelId="{A7D0158A-7A82-4091-A544-26391D057DD1}">
      <dgm:prSet phldrT="[Text]" phldr="0"/>
      <dgm:spPr>
        <a:solidFill>
          <a:srgbClr val="FFFFCC"/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Relevant symptoms</a:t>
          </a:r>
          <a:endParaRPr lang="en-IN" b="1" dirty="0">
            <a:solidFill>
              <a:schemeClr val="tx1"/>
            </a:solidFill>
          </a:endParaRPr>
        </a:p>
      </dgm:t>
    </dgm:pt>
    <dgm:pt modelId="{3EF2E9FD-B387-4C54-9181-3C22EF2D5D13}" type="parTrans" cxnId="{6759162C-4114-4845-9888-80DC25649A3D}">
      <dgm:prSet/>
      <dgm:spPr/>
      <dgm:t>
        <a:bodyPr/>
        <a:lstStyle/>
        <a:p>
          <a:endParaRPr lang="en-IN"/>
        </a:p>
      </dgm:t>
    </dgm:pt>
    <dgm:pt modelId="{FF3C99CB-BBEA-4D0E-A0F3-7B7DA6E7DECD}" type="sibTrans" cxnId="{6759162C-4114-4845-9888-80DC25649A3D}">
      <dgm:prSet/>
      <dgm:spPr/>
      <dgm:t>
        <a:bodyPr/>
        <a:lstStyle/>
        <a:p>
          <a:endParaRPr lang="en-IN"/>
        </a:p>
      </dgm:t>
    </dgm:pt>
    <dgm:pt modelId="{1CE24917-E0A9-4C99-BDEE-1FF25BCEB255}" type="pres">
      <dgm:prSet presAssocID="{8A4205A9-F719-4F46-8B62-B610ACAB8794}" presName="Name0" presStyleCnt="0">
        <dgm:presLayoutVars>
          <dgm:dir/>
          <dgm:resizeHandles val="exact"/>
        </dgm:presLayoutVars>
      </dgm:prSet>
      <dgm:spPr/>
    </dgm:pt>
    <dgm:pt modelId="{247B1904-CD7A-4EEA-B3D9-1586711869D3}" type="pres">
      <dgm:prSet presAssocID="{48B2FF66-4659-4509-88C1-CB23025F4F0C}" presName="node" presStyleLbl="node1" presStyleIdx="0" presStyleCnt="3" custLinFactNeighborX="-20638" custLinFactNeighborY="64504">
        <dgm:presLayoutVars>
          <dgm:bulletEnabled val="1"/>
        </dgm:presLayoutVars>
      </dgm:prSet>
      <dgm:spPr/>
    </dgm:pt>
    <dgm:pt modelId="{FB26F019-35DF-4EFE-AFCF-F45898A9FEA4}" type="pres">
      <dgm:prSet presAssocID="{7FD6BE6B-F0A7-4C3A-8AF0-EB4F963CEE0D}" presName="sibTrans" presStyleLbl="sibTrans2D1" presStyleIdx="0" presStyleCnt="2" custScaleX="164667"/>
      <dgm:spPr/>
    </dgm:pt>
    <dgm:pt modelId="{57B4BEFA-87E9-48F7-9F47-6366FABAFEC1}" type="pres">
      <dgm:prSet presAssocID="{7FD6BE6B-F0A7-4C3A-8AF0-EB4F963CEE0D}" presName="connectorText" presStyleLbl="sibTrans2D1" presStyleIdx="0" presStyleCnt="2"/>
      <dgm:spPr/>
    </dgm:pt>
    <dgm:pt modelId="{B18FCBA3-0426-4844-AA79-BEC017A20267}" type="pres">
      <dgm:prSet presAssocID="{D90DD08F-0C2F-4180-B16F-3CC4D512831A}" presName="node" presStyleLbl="node1" presStyleIdx="1" presStyleCnt="3" custLinFactNeighborY="79227">
        <dgm:presLayoutVars>
          <dgm:bulletEnabled val="1"/>
        </dgm:presLayoutVars>
      </dgm:prSet>
      <dgm:spPr/>
    </dgm:pt>
    <dgm:pt modelId="{D329EB1E-E8C0-4674-AA4C-D47DB1D49851}" type="pres">
      <dgm:prSet presAssocID="{6283391F-CD2F-4BB8-A1C9-3A059EF06602}" presName="sibTrans" presStyleLbl="sibTrans2D1" presStyleIdx="1" presStyleCnt="2" custScaleX="159857" custLinFactNeighborX="-1727" custLinFactNeighborY="2977"/>
      <dgm:spPr/>
    </dgm:pt>
    <dgm:pt modelId="{0175DDDF-82D8-4984-83D0-395B00A7B07C}" type="pres">
      <dgm:prSet presAssocID="{6283391F-CD2F-4BB8-A1C9-3A059EF06602}" presName="connectorText" presStyleLbl="sibTrans2D1" presStyleIdx="1" presStyleCnt="2"/>
      <dgm:spPr/>
    </dgm:pt>
    <dgm:pt modelId="{508B409C-DBD6-4164-85F5-D5BE7B0A7DAE}" type="pres">
      <dgm:prSet presAssocID="{A7D0158A-7A82-4091-A544-26391D057DD1}" presName="node" presStyleLbl="node1" presStyleIdx="2" presStyleCnt="3" custLinFactNeighborX="23340" custLinFactNeighborY="66075">
        <dgm:presLayoutVars>
          <dgm:bulletEnabled val="1"/>
        </dgm:presLayoutVars>
      </dgm:prSet>
      <dgm:spPr/>
    </dgm:pt>
  </dgm:ptLst>
  <dgm:cxnLst>
    <dgm:cxn modelId="{1FA8070B-CA5B-40B8-8A10-D7D5C9C2AD3E}" type="presOf" srcId="{6283391F-CD2F-4BB8-A1C9-3A059EF06602}" destId="{D329EB1E-E8C0-4674-AA4C-D47DB1D49851}" srcOrd="0" destOrd="0" presId="urn:microsoft.com/office/officeart/2005/8/layout/process1"/>
    <dgm:cxn modelId="{15D1CB26-7B06-481C-8013-5E8C77914E63}" type="presOf" srcId="{6283391F-CD2F-4BB8-A1C9-3A059EF06602}" destId="{0175DDDF-82D8-4984-83D0-395B00A7B07C}" srcOrd="1" destOrd="0" presId="urn:microsoft.com/office/officeart/2005/8/layout/process1"/>
    <dgm:cxn modelId="{6759162C-4114-4845-9888-80DC25649A3D}" srcId="{8A4205A9-F719-4F46-8B62-B610ACAB8794}" destId="{A7D0158A-7A82-4091-A544-26391D057DD1}" srcOrd="2" destOrd="0" parTransId="{3EF2E9FD-B387-4C54-9181-3C22EF2D5D13}" sibTransId="{FF3C99CB-BBEA-4D0E-A0F3-7B7DA6E7DECD}"/>
    <dgm:cxn modelId="{567D2F45-DBDF-4AA4-B160-FDF6C88A7EE8}" type="presOf" srcId="{8A4205A9-F719-4F46-8B62-B610ACAB8794}" destId="{1CE24917-E0A9-4C99-BDEE-1FF25BCEB255}" srcOrd="0" destOrd="0" presId="urn:microsoft.com/office/officeart/2005/8/layout/process1"/>
    <dgm:cxn modelId="{C86B1A57-E65E-468D-A5E8-E493B9D32708}" type="presOf" srcId="{48B2FF66-4659-4509-88C1-CB23025F4F0C}" destId="{247B1904-CD7A-4EEA-B3D9-1586711869D3}" srcOrd="0" destOrd="0" presId="urn:microsoft.com/office/officeart/2005/8/layout/process1"/>
    <dgm:cxn modelId="{7360158E-D6A3-4408-ABF3-141D9AACC957}" type="presOf" srcId="{D90DD08F-0C2F-4180-B16F-3CC4D512831A}" destId="{B18FCBA3-0426-4844-AA79-BEC017A20267}" srcOrd="0" destOrd="0" presId="urn:microsoft.com/office/officeart/2005/8/layout/process1"/>
    <dgm:cxn modelId="{C95CFCB5-4A34-4066-8FC2-7A0CA609454A}" srcId="{8A4205A9-F719-4F46-8B62-B610ACAB8794}" destId="{D90DD08F-0C2F-4180-B16F-3CC4D512831A}" srcOrd="1" destOrd="0" parTransId="{DFE81DD5-5BF6-4342-8C50-968E9AED2B6F}" sibTransId="{6283391F-CD2F-4BB8-A1C9-3A059EF06602}"/>
    <dgm:cxn modelId="{9D5F0DBC-5F95-4D8F-BCB4-A2B807271C4E}" type="presOf" srcId="{7FD6BE6B-F0A7-4C3A-8AF0-EB4F963CEE0D}" destId="{57B4BEFA-87E9-48F7-9F47-6366FABAFEC1}" srcOrd="1" destOrd="0" presId="urn:microsoft.com/office/officeart/2005/8/layout/process1"/>
    <dgm:cxn modelId="{FF56DCE2-26B9-428C-86AD-4B0602F779BC}" type="presOf" srcId="{7FD6BE6B-F0A7-4C3A-8AF0-EB4F963CEE0D}" destId="{FB26F019-35DF-4EFE-AFCF-F45898A9FEA4}" srcOrd="0" destOrd="0" presId="urn:microsoft.com/office/officeart/2005/8/layout/process1"/>
    <dgm:cxn modelId="{9DB820E6-83AD-422F-8A7C-55AA6D7FDBBD}" type="presOf" srcId="{A7D0158A-7A82-4091-A544-26391D057DD1}" destId="{508B409C-DBD6-4164-85F5-D5BE7B0A7DAE}" srcOrd="0" destOrd="0" presId="urn:microsoft.com/office/officeart/2005/8/layout/process1"/>
    <dgm:cxn modelId="{6B3AB2E9-391D-4A7A-8A02-FF6390585A88}" srcId="{8A4205A9-F719-4F46-8B62-B610ACAB8794}" destId="{48B2FF66-4659-4509-88C1-CB23025F4F0C}" srcOrd="0" destOrd="0" parTransId="{80534F21-DD64-4504-8FFC-C99781BABCDF}" sibTransId="{7FD6BE6B-F0A7-4C3A-8AF0-EB4F963CEE0D}"/>
    <dgm:cxn modelId="{301D8210-5EB8-4ABD-9236-048835CC78BB}" type="presParOf" srcId="{1CE24917-E0A9-4C99-BDEE-1FF25BCEB255}" destId="{247B1904-CD7A-4EEA-B3D9-1586711869D3}" srcOrd="0" destOrd="0" presId="urn:microsoft.com/office/officeart/2005/8/layout/process1"/>
    <dgm:cxn modelId="{B665903C-81EA-4FAE-ADFB-B5B416CA634B}" type="presParOf" srcId="{1CE24917-E0A9-4C99-BDEE-1FF25BCEB255}" destId="{FB26F019-35DF-4EFE-AFCF-F45898A9FEA4}" srcOrd="1" destOrd="0" presId="urn:microsoft.com/office/officeart/2005/8/layout/process1"/>
    <dgm:cxn modelId="{949FCD6C-B37B-4B4D-863A-70503B5E6411}" type="presParOf" srcId="{FB26F019-35DF-4EFE-AFCF-F45898A9FEA4}" destId="{57B4BEFA-87E9-48F7-9F47-6366FABAFEC1}" srcOrd="0" destOrd="0" presId="urn:microsoft.com/office/officeart/2005/8/layout/process1"/>
    <dgm:cxn modelId="{940C09FA-7582-4441-AB4A-8379AF42B362}" type="presParOf" srcId="{1CE24917-E0A9-4C99-BDEE-1FF25BCEB255}" destId="{B18FCBA3-0426-4844-AA79-BEC017A20267}" srcOrd="2" destOrd="0" presId="urn:microsoft.com/office/officeart/2005/8/layout/process1"/>
    <dgm:cxn modelId="{3CD4E10B-7379-4D62-A51D-050A246402E0}" type="presParOf" srcId="{1CE24917-E0A9-4C99-BDEE-1FF25BCEB255}" destId="{D329EB1E-E8C0-4674-AA4C-D47DB1D49851}" srcOrd="3" destOrd="0" presId="urn:microsoft.com/office/officeart/2005/8/layout/process1"/>
    <dgm:cxn modelId="{F8CFB188-2DED-490A-932D-6382501EEA2F}" type="presParOf" srcId="{D329EB1E-E8C0-4674-AA4C-D47DB1D49851}" destId="{0175DDDF-82D8-4984-83D0-395B00A7B07C}" srcOrd="0" destOrd="0" presId="urn:microsoft.com/office/officeart/2005/8/layout/process1"/>
    <dgm:cxn modelId="{9D6B8A82-756A-458A-953D-D662FC98D378}" type="presParOf" srcId="{1CE24917-E0A9-4C99-BDEE-1FF25BCEB255}" destId="{508B409C-DBD6-4164-85F5-D5BE7B0A7DA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7B1904-CD7A-4EEA-B3D9-1586711869D3}">
      <dsp:nvSpPr>
        <dsp:cNvPr id="0" name=""/>
        <dsp:cNvSpPr/>
      </dsp:nvSpPr>
      <dsp:spPr>
        <a:xfrm>
          <a:off x="0" y="1629388"/>
          <a:ext cx="2135187" cy="1281112"/>
        </a:xfrm>
        <a:prstGeom prst="roundRect">
          <a:avLst>
            <a:gd name="adj" fmla="val 10000"/>
          </a:avLst>
        </a:prstGeom>
        <a:solidFill>
          <a:srgbClr val="FFFFCC"/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ln>
                <a:noFill/>
              </a:ln>
              <a:solidFill>
                <a:schemeClr val="tx1"/>
              </a:solidFill>
            </a:rPr>
            <a:t>Medical Report</a:t>
          </a:r>
          <a:endParaRPr lang="en-IN" sz="26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37522" y="1666910"/>
        <a:ext cx="2060143" cy="1206068"/>
      </dsp:txXfrm>
    </dsp:sp>
    <dsp:sp modelId="{FB26F019-35DF-4EFE-AFCF-F45898A9FEA4}">
      <dsp:nvSpPr>
        <dsp:cNvPr id="0" name=""/>
        <dsp:cNvSpPr/>
      </dsp:nvSpPr>
      <dsp:spPr>
        <a:xfrm>
          <a:off x="2202907" y="2005181"/>
          <a:ext cx="751615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</dsp:txBody>
      <dsp:txXfrm>
        <a:off x="2202907" y="2111086"/>
        <a:ext cx="592757" cy="317716"/>
      </dsp:txXfrm>
    </dsp:sp>
    <dsp:sp modelId="{B18FCBA3-0426-4844-AA79-BEC017A20267}">
      <dsp:nvSpPr>
        <dsp:cNvPr id="0" name=""/>
        <dsp:cNvSpPr/>
      </dsp:nvSpPr>
      <dsp:spPr>
        <a:xfrm>
          <a:off x="2996406" y="1629388"/>
          <a:ext cx="2135187" cy="1281112"/>
        </a:xfrm>
        <a:prstGeom prst="roundRect">
          <a:avLst>
            <a:gd name="adj" fmla="val 10000"/>
          </a:avLst>
        </a:prstGeom>
        <a:solidFill>
          <a:srgbClr val="FFFFCC"/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chemeClr val="tx1"/>
              </a:solidFill>
            </a:rPr>
            <a:t>Visual  Abnormality</a:t>
          </a:r>
          <a:endParaRPr lang="en-IN" sz="2600" b="1" kern="1200" dirty="0">
            <a:solidFill>
              <a:schemeClr val="tx1"/>
            </a:solidFill>
          </a:endParaRPr>
        </a:p>
      </dsp:txBody>
      <dsp:txXfrm>
        <a:off x="3033928" y="1666910"/>
        <a:ext cx="2060143" cy="1206068"/>
      </dsp:txXfrm>
    </dsp:sp>
    <dsp:sp modelId="{D329EB1E-E8C0-4674-AA4C-D47DB1D49851}">
      <dsp:nvSpPr>
        <dsp:cNvPr id="0" name=""/>
        <dsp:cNvSpPr/>
      </dsp:nvSpPr>
      <dsp:spPr>
        <a:xfrm>
          <a:off x="5202408" y="2020945"/>
          <a:ext cx="729660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</dsp:txBody>
      <dsp:txXfrm>
        <a:off x="5202408" y="2126850"/>
        <a:ext cx="570802" cy="317716"/>
      </dsp:txXfrm>
    </dsp:sp>
    <dsp:sp modelId="{508B409C-DBD6-4164-85F5-D5BE7B0A7DAE}">
      <dsp:nvSpPr>
        <dsp:cNvPr id="0" name=""/>
        <dsp:cNvSpPr/>
      </dsp:nvSpPr>
      <dsp:spPr>
        <a:xfrm>
          <a:off x="5992812" y="1629388"/>
          <a:ext cx="2135187" cy="1281112"/>
        </a:xfrm>
        <a:prstGeom prst="roundRect">
          <a:avLst>
            <a:gd name="adj" fmla="val 10000"/>
          </a:avLst>
        </a:prstGeom>
        <a:solidFill>
          <a:srgbClr val="FFFFCC"/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chemeClr val="tx1"/>
              </a:solidFill>
            </a:rPr>
            <a:t>Relevant symptoms</a:t>
          </a:r>
          <a:endParaRPr lang="en-IN" sz="2600" b="1" kern="1200" dirty="0">
            <a:solidFill>
              <a:schemeClr val="tx1"/>
            </a:solidFill>
          </a:endParaRPr>
        </a:p>
      </dsp:txBody>
      <dsp:txXfrm>
        <a:off x="6030334" y="1666910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2DAC8-50D4-4C17-849E-FF778F5AD73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EA5FB8-0B90-489D-B1FA-71A2E62D8A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156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FB8-0B90-489D-B1FA-71A2E62D8A6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898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FB8-0B90-489D-B1FA-71A2E62D8A6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302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FB8-0B90-489D-B1FA-71A2E62D8A6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7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FB8-0B90-489D-B1FA-71A2E62D8A6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682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106F-9DA3-02E0-C3C7-07ABA40BD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E01FA-0A1A-D4FF-453F-3D5A4D311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1FC5C-CD19-6902-7321-70FEDD6D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360B0-1F07-FBAA-8967-87482207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7CCC8-BBC1-A3F8-E752-7ED40B65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310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843A-670B-6D44-5E2A-9E2BB28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FBFB9-3B1F-B134-DF65-E358476B0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6C959-82A9-F2DE-7B2F-800BBE3AD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3CFFC-1FFA-ABF3-8246-3ADB92E8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22AD-3CE2-0263-4818-73EDD622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15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DE5A-9A60-456C-B02A-B3BE7F55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AED89-6566-0AAD-310E-B3FF1F1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F9803-5E5C-87D9-BF1B-4671254C2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332B5-2C82-CAFB-1FFF-E645E701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92972-66B6-91C3-5DC3-74DCAAEA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39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A0FE-0FBB-2E94-F258-0D696904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85A5F-CF32-4773-E239-EAA8079C1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BE443-ABA9-EB7F-BBC5-83B99B9DC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5BAB4-4493-7372-3434-66CF684D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EE833-5F80-BAFC-32CE-B969F598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FF115-7A7F-1EAE-755C-BFF584DA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64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17A1-0F2F-6D99-E384-8FAF85AF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11A26-B0D5-F04A-1980-F8BAFDEAB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21E8D-BB67-B7BE-9BF1-63C4DBC54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9CE5D1-C906-A5A1-FD13-3356CA2D8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ADD87-5AD0-796A-6411-368714B14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180366-29F7-7EE5-5257-38AAC64C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032C7-F0DF-14A4-1C1C-66CFC55C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A05595-95D6-5B4B-E58F-D95D429F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221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2189-4E90-99CA-E600-D2E18F47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1EC0D-FC65-075A-C468-F0F6773C1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9ABBF-16C0-4D86-FE8C-77E5EF899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B347D-9242-8C8A-136C-04A22D19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038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ABCA6-A906-0F2F-BD4D-6E3647E0F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B0963-8F04-4B09-34D8-D511F9C8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3D6D3-B5A8-9E43-F5EB-55BB34C9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458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6763-89AC-9CF3-1DFA-85F9B5E70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CD449-F597-2A6D-8630-39270BB6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89CE2-BF33-5F54-2C4E-449F8EE89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0AA32-DA99-2888-A491-B3E7DD49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84578-A1C1-845B-B018-956979C7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011FC-F27B-4B1F-259E-F528ED1B5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12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F5964-1DD6-A4A5-C60C-D199DEE01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8B1E0-7AEB-B0B5-7E09-0B09075AB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22883-3131-4FC3-C981-8A14006FD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2A973-12BF-1F87-FFF0-8A6D9132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A5854-4D4D-BEEA-E274-2FB958F66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7362F-94A5-91E3-D603-897783BC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26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2ADC1-8AC2-46AC-855F-6F9E5678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635CE-455E-5E67-4462-A024E7E40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BBF9E-9B01-D6DB-E91A-D0E75B3D6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321A6-6DB7-174F-F82C-0DDE4499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52608-0BB3-4361-7559-CB552D79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994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52C29A-5076-7B87-D948-2C7CA363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CA9B8-35EE-6B36-E7D8-D2B6CE61D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2DB14-2BFE-0497-A6C3-4EBD3092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7D3D-2FC4-CCA5-61E3-91C70333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E3FE0-F3B9-DA3C-C01C-8F17B99D8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56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E2577F-A19E-C11B-3CF3-D814CEB12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DC531-8C43-8ED7-EB53-9371D2778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A9D84-ECF6-AF08-23CC-698FD4EDB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8CE73-7463-E812-2F6B-C1364255F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D0EF0-CA3F-8D1D-BC96-27EB29BEA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95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hoshankur102@gmail.com" TargetMode="External"/><Relationship Id="rId2" Type="http://schemas.openxmlformats.org/officeDocument/2006/relationships/hyperlink" Target="mailto:ankurg25@iitk.ac.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076633225010372" TargetMode="External"/><Relationship Id="rId2" Type="http://schemas.openxmlformats.org/officeDocument/2006/relationships/hyperlink" Target="https://www.medrxiv.org/content/10.1101/2025.11.21.25340008v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stage.jst.go.jp/article/jjrt/82/5/82_26-1639/_html/-char/en" TargetMode="External"/><Relationship Id="rId5" Type="http://schemas.openxmlformats.org/officeDocument/2006/relationships/hyperlink" Target="https://pubmed.ncbi.nlm.nih.gov/41772565/" TargetMode="External"/><Relationship Id="rId4" Type="http://schemas.openxmlformats.org/officeDocument/2006/relationships/hyperlink" Target="https://ar5iv.labs.arxiv.org/html/2511.02014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554B-3262-009E-7983-94FE96CEB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705"/>
            <a:ext cx="9144000" cy="2387600"/>
          </a:xfrm>
        </p:spPr>
        <p:txBody>
          <a:bodyPr>
            <a:normAutofit/>
          </a:bodyPr>
          <a:lstStyle/>
          <a:p>
            <a:r>
              <a:rPr lang="en-IN" sz="7200" dirty="0"/>
              <a:t>🧬</a:t>
            </a:r>
            <a:br>
              <a:rPr lang="en-IN" sz="7200" dirty="0"/>
            </a:br>
            <a:r>
              <a:rPr lang="en-US" sz="7200" b="1" dirty="0">
                <a:solidFill>
                  <a:srgbClr val="0000FF"/>
                </a:solidFill>
              </a:rPr>
              <a:t>MediNova</a:t>
            </a:r>
            <a:endParaRPr lang="en-IN" sz="7200" b="1" dirty="0">
              <a:solidFill>
                <a:srgbClr val="0000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0163D-8CE4-6474-3254-48B20589F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2743965"/>
            <a:ext cx="9144000" cy="770512"/>
          </a:xfrm>
        </p:spPr>
        <p:txBody>
          <a:bodyPr>
            <a:normAutofit/>
          </a:bodyPr>
          <a:lstStyle/>
          <a:p>
            <a:r>
              <a:rPr lang="en-US" sz="3600" b="1" dirty="0"/>
              <a:t>Multimodal AI for Rare Disorder Diagnosis</a:t>
            </a: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71CF9-6EF4-1691-CFC4-C223CFED6489}"/>
              </a:ext>
            </a:extLst>
          </p:cNvPr>
          <p:cNvSpPr txBox="1"/>
          <p:nvPr/>
        </p:nvSpPr>
        <p:spPr>
          <a:xfrm>
            <a:off x="1272607" y="4009497"/>
            <a:ext cx="939539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800000"/>
                </a:solidFill>
              </a:rPr>
              <a:t>Ankur Ghosh</a:t>
            </a:r>
          </a:p>
          <a:p>
            <a:pPr algn="ctr"/>
            <a:endParaRPr lang="en-US" sz="3200" b="1" dirty="0">
              <a:solidFill>
                <a:srgbClr val="800000"/>
              </a:solidFill>
            </a:endParaRPr>
          </a:p>
          <a:p>
            <a:pPr algn="ctr"/>
            <a:r>
              <a:rPr lang="en-US" sz="2800" b="1" dirty="0"/>
              <a:t>2</a:t>
            </a:r>
            <a:r>
              <a:rPr lang="en-US" sz="2800" b="1" baseline="30000" dirty="0"/>
              <a:t>nd</a:t>
            </a:r>
            <a:r>
              <a:rPr lang="en-US" sz="2800" b="1" dirty="0"/>
              <a:t> Year, B. Tech, Chemical Engineering</a:t>
            </a:r>
          </a:p>
          <a:p>
            <a:pPr algn="ctr"/>
            <a:r>
              <a:rPr lang="en-IN" sz="2800" b="1" dirty="0"/>
              <a:t>IIT Kanpur</a:t>
            </a:r>
            <a:endParaRPr lang="en-US" sz="2800" b="1" dirty="0"/>
          </a:p>
          <a:p>
            <a:pPr algn="ctr"/>
            <a:r>
              <a:rPr lang="en-US" sz="28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E-mail: ankurg25@iitk.ac.in</a:t>
            </a:r>
            <a:r>
              <a:rPr lang="en-US" sz="2800" b="1" dirty="0"/>
              <a:t>, </a:t>
            </a:r>
            <a:r>
              <a:rPr lang="en-US" sz="28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ghoshankur102@gmail.com</a:t>
            </a:r>
            <a:endParaRPr lang="en-US" sz="2800" b="1" dirty="0"/>
          </a:p>
          <a:p>
            <a:pPr algn="ctr"/>
            <a:r>
              <a:rPr lang="en-US" sz="2800" b="1" dirty="0"/>
              <a:t>Ph:7439735705</a:t>
            </a:r>
          </a:p>
        </p:txBody>
      </p:sp>
    </p:spTree>
    <p:extLst>
      <p:ext uri="{BB962C8B-B14F-4D97-AF65-F5344CB8AC3E}">
        <p14:creationId xmlns:p14="http://schemas.microsoft.com/office/powerpoint/2010/main" val="49518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C01B-3CB9-B143-9A89-557A965A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9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The Problem: Diagnostic Odyssey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B140-36F7-B189-03F9-764ACC8B5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157"/>
            <a:ext cx="10515600" cy="435133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660033"/>
                </a:solidFill>
              </a:rPr>
              <a:t> Rare diseases affect over 300 million people worldwide</a:t>
            </a:r>
          </a:p>
          <a:p>
            <a:pPr marL="0" indent="0" algn="just">
              <a:buNone/>
            </a:pPr>
            <a:endParaRPr lang="en-IN" b="1" dirty="0">
              <a:solidFill>
                <a:srgbClr val="660033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660033"/>
                </a:solidFill>
              </a:rPr>
              <a:t> The average time to diagnosis is 5-7 years due to fragmented clinical knowledge, complex terminology, and lack of integrated diagnostic tools. </a:t>
            </a:r>
          </a:p>
          <a:p>
            <a:pPr marL="0" indent="0" algn="just">
              <a:buNone/>
            </a:pPr>
            <a:endParaRPr lang="en-IN" b="1" dirty="0">
              <a:solidFill>
                <a:srgbClr val="660033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660033"/>
                </a:solidFill>
              </a:rPr>
              <a:t> Current AI systems either rely on isolated symptom matching without clinical context or require expensive specialized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3380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A16C-41B9-B68C-8370-E0C66CEE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58" y="17429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Time: The Greatest Enemy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0C186-F0C7-8F4C-EE38-25E7F85EC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232"/>
            <a:ext cx="10515600" cy="4351338"/>
          </a:xfrm>
        </p:spPr>
        <p:txBody>
          <a:bodyPr/>
          <a:lstStyle/>
          <a:p>
            <a:pPr algn="just"/>
            <a:r>
              <a:rPr lang="en-IN" b="1" dirty="0">
                <a:solidFill>
                  <a:srgbClr val="660033"/>
                </a:solidFill>
              </a:rPr>
              <a:t>Neurodegenerative and metabolic rare diseases have narrow treatment window: A significant save in time can mean all the difference</a:t>
            </a:r>
          </a:p>
          <a:p>
            <a:pPr marL="0" indent="0" algn="just">
              <a:buNone/>
            </a:pPr>
            <a:endParaRPr lang="en-IN" b="1" dirty="0">
              <a:solidFill>
                <a:srgbClr val="660033"/>
              </a:solidFill>
            </a:endParaRPr>
          </a:p>
          <a:p>
            <a:pPr algn="just"/>
            <a:r>
              <a:rPr lang="en-IN" b="1" dirty="0">
                <a:solidFill>
                  <a:srgbClr val="660033"/>
                </a:solidFill>
              </a:rPr>
              <a:t>75% of rare diseases affect children: Delayed diagnosis hits during critical developmental periods can't be recovered later</a:t>
            </a:r>
          </a:p>
          <a:p>
            <a:pPr marL="0" indent="0" algn="just">
              <a:buNone/>
            </a:pPr>
            <a:endParaRPr lang="en-IN" b="1" dirty="0">
              <a:solidFill>
                <a:srgbClr val="660033"/>
              </a:solidFill>
            </a:endParaRPr>
          </a:p>
          <a:p>
            <a:pPr algn="just"/>
            <a:r>
              <a:rPr lang="en-IN" b="1" dirty="0">
                <a:solidFill>
                  <a:srgbClr val="660033"/>
                </a:solidFill>
              </a:rPr>
              <a:t>Every additional year of misdiagnosis adds unnecessary financial burden on the patient’s family</a:t>
            </a:r>
          </a:p>
        </p:txBody>
      </p:sp>
    </p:spTree>
    <p:extLst>
      <p:ext uri="{BB962C8B-B14F-4D97-AF65-F5344CB8AC3E}">
        <p14:creationId xmlns:p14="http://schemas.microsoft.com/office/powerpoint/2010/main" val="131920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F1B-907B-93CE-E107-C93EED67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1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The Solution: RAGnosis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BAF42518-A2A6-87BF-0A6E-8F81CC7CB9E0}"/>
              </a:ext>
            </a:extLst>
          </p:cNvPr>
          <p:cNvSpPr/>
          <p:nvPr/>
        </p:nvSpPr>
        <p:spPr>
          <a:xfrm flipH="1">
            <a:off x="2373532" y="1387735"/>
            <a:ext cx="7323083" cy="1937898"/>
          </a:xfrm>
          <a:prstGeom prst="wedgeRoundRectCallou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MediNova: A production-ready, hybrid RAG that accelerates diagnosis of rare disorders.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40BB8-791B-4A47-2299-B9EAC017DBE4}"/>
              </a:ext>
            </a:extLst>
          </p:cNvPr>
          <p:cNvSpPr txBox="1"/>
          <p:nvPr/>
        </p:nvSpPr>
        <p:spPr>
          <a:xfrm>
            <a:off x="431815" y="3685161"/>
            <a:ext cx="4430111" cy="17851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/>
              <a:t>A hybrid retrieval system that gives importance to colloquial language just as a patient would speak besides clinical terminology</a:t>
            </a:r>
            <a:endParaRPr lang="en-IN" sz="2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8D5A4A-F7BD-D4A3-BC49-36BAB6C09173}"/>
              </a:ext>
            </a:extLst>
          </p:cNvPr>
          <p:cNvSpPr txBox="1"/>
          <p:nvPr/>
        </p:nvSpPr>
        <p:spPr>
          <a:xfrm flipH="1">
            <a:off x="5589275" y="4334514"/>
            <a:ext cx="2861442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/>
              <a:t>Besides text, also supports image analysis for more precise diagnosis</a:t>
            </a:r>
            <a:endParaRPr lang="en-IN" sz="2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89E995-5F8C-353C-D1F4-DDBC5FD8F862}"/>
              </a:ext>
            </a:extLst>
          </p:cNvPr>
          <p:cNvSpPr txBox="1"/>
          <p:nvPr/>
        </p:nvSpPr>
        <p:spPr>
          <a:xfrm>
            <a:off x="9050846" y="5396343"/>
            <a:ext cx="2624957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/>
              <a:t>Contextually aware response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1416584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E3A1B-C008-6690-CF15-9C1AAFC5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4FB54F9B-B052-7EEF-7799-4A9ABCFAA83D}"/>
              </a:ext>
            </a:extLst>
          </p:cNvPr>
          <p:cNvSpPr/>
          <p:nvPr/>
        </p:nvSpPr>
        <p:spPr>
          <a:xfrm flipH="1">
            <a:off x="2848301" y="537288"/>
            <a:ext cx="6283873" cy="1386105"/>
          </a:xfrm>
          <a:prstGeom prst="wedgeRoundRectCallou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Who MediNova Targets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17DAA-D07E-C699-7C52-FDE2E9FE033F}"/>
              </a:ext>
            </a:extLst>
          </p:cNvPr>
          <p:cNvSpPr txBox="1"/>
          <p:nvPr/>
        </p:nvSpPr>
        <p:spPr>
          <a:xfrm>
            <a:off x="311586" y="2272731"/>
            <a:ext cx="4751987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/>
              <a:t>MediNova is designed as a clinical decision support tool primarily for clinicians and medical researchers, including: geneticists, radiologists, paediatricians, and rare disease specialists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BE0E53-0B6E-0C1F-9DC2-3D074DFF1F45}"/>
              </a:ext>
            </a:extLst>
          </p:cNvPr>
          <p:cNvSpPr txBox="1"/>
          <p:nvPr/>
        </p:nvSpPr>
        <p:spPr>
          <a:xfrm flipH="1">
            <a:off x="5484890" y="2995616"/>
            <a:ext cx="3058511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/>
              <a:t>Patients are the ultimate beneficiaries as MediNova strives to bridge the gap between symptoms and diagnosis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C72512-08DC-278E-28F2-A39CDB17EC23}"/>
              </a:ext>
            </a:extLst>
          </p:cNvPr>
          <p:cNvSpPr txBox="1"/>
          <p:nvPr/>
        </p:nvSpPr>
        <p:spPr>
          <a:xfrm>
            <a:off x="8978327" y="3713628"/>
            <a:ext cx="2902087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/>
              <a:t>Healthcare institutions benefit from reduced diagnostic costs and improved patient outcomes</a:t>
            </a:r>
          </a:p>
        </p:txBody>
      </p:sp>
    </p:spTree>
    <p:extLst>
      <p:ext uri="{BB962C8B-B14F-4D97-AF65-F5344CB8AC3E}">
        <p14:creationId xmlns:p14="http://schemas.microsoft.com/office/powerpoint/2010/main" val="1384868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1461-CDFE-2D6F-5848-DF2944686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975" y="52424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MediNova: The Pipeline</a:t>
            </a:r>
            <a:endParaRPr lang="en-IN" b="1" dirty="0">
              <a:solidFill>
                <a:srgbClr val="0000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7E5734D-9B6E-C81A-01D7-F29DF26377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352973"/>
              </p:ext>
            </p:extLst>
          </p:nvPr>
        </p:nvGraphicFramePr>
        <p:xfrm>
          <a:off x="1662546" y="1654392"/>
          <a:ext cx="9005454" cy="5106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8E5C98A-2BE2-BC52-29FD-6DBAD59E56AE}"/>
              </a:ext>
            </a:extLst>
          </p:cNvPr>
          <p:cNvSpPr/>
          <p:nvPr/>
        </p:nvSpPr>
        <p:spPr>
          <a:xfrm>
            <a:off x="838201" y="1571265"/>
            <a:ext cx="2052782" cy="1153462"/>
          </a:xfrm>
          <a:prstGeom prst="flowChartAlternateProcess">
            <a:avLst/>
          </a:prstGeom>
          <a:solidFill>
            <a:srgbClr val="FFCCFF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Symptoms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7C393073-C06C-BE49-9DCE-CC82A4853366}"/>
              </a:ext>
            </a:extLst>
          </p:cNvPr>
          <p:cNvSpPr/>
          <p:nvPr/>
        </p:nvSpPr>
        <p:spPr>
          <a:xfrm>
            <a:off x="4096328" y="1550412"/>
            <a:ext cx="2052782" cy="1153462"/>
          </a:xfrm>
          <a:prstGeom prst="flowChartAlternateProcess">
            <a:avLst/>
          </a:prstGeom>
          <a:solidFill>
            <a:srgbClr val="FFCCFF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Image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74D9788D-B588-8817-122E-B7B93588A5DF}"/>
              </a:ext>
            </a:extLst>
          </p:cNvPr>
          <p:cNvSpPr/>
          <p:nvPr/>
        </p:nvSpPr>
        <p:spPr>
          <a:xfrm>
            <a:off x="8596747" y="1550412"/>
            <a:ext cx="2052782" cy="1153462"/>
          </a:xfrm>
          <a:prstGeom prst="flowChartAlternateProcess">
            <a:avLst/>
          </a:prstGeom>
          <a:solidFill>
            <a:srgbClr val="FFCCFF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Medical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Context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4B67372D-598E-8CF6-6401-44132AF79057}"/>
              </a:ext>
            </a:extLst>
          </p:cNvPr>
          <p:cNvSpPr/>
          <p:nvPr/>
        </p:nvSpPr>
        <p:spPr>
          <a:xfrm>
            <a:off x="8615218" y="3532766"/>
            <a:ext cx="2052782" cy="1153462"/>
          </a:xfrm>
          <a:prstGeom prst="flowChartAlternateProcess">
            <a:avLst/>
          </a:prstGeom>
          <a:solidFill>
            <a:srgbClr val="FFCCFF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RAG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tx1"/>
                </a:solidFill>
              </a:rPr>
              <a:t>Engine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1010B0B2-C3D0-665A-DFA2-D7668CE3EB24}"/>
              </a:ext>
            </a:extLst>
          </p:cNvPr>
          <p:cNvSpPr/>
          <p:nvPr/>
        </p:nvSpPr>
        <p:spPr>
          <a:xfrm>
            <a:off x="8615218" y="5515120"/>
            <a:ext cx="2052782" cy="1153462"/>
          </a:xfrm>
          <a:prstGeom prst="flowChartAlternateProcess">
            <a:avLst/>
          </a:prstGeom>
          <a:solidFill>
            <a:srgbClr val="FFCCFF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Top 5 Conditions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996C7CA1-1C38-52F3-0BB5-B2DDE1BD7E08}"/>
              </a:ext>
            </a:extLst>
          </p:cNvPr>
          <p:cNvSpPr/>
          <p:nvPr/>
        </p:nvSpPr>
        <p:spPr>
          <a:xfrm>
            <a:off x="3114964" y="1683324"/>
            <a:ext cx="757382" cy="811717"/>
          </a:xfrm>
          <a:prstGeom prst="mathPlu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82FFCA8-BD50-5AC1-69A7-82075710380F}"/>
              </a:ext>
            </a:extLst>
          </p:cNvPr>
          <p:cNvSpPr/>
          <p:nvPr/>
        </p:nvSpPr>
        <p:spPr>
          <a:xfrm>
            <a:off x="6932539" y="1869276"/>
            <a:ext cx="761352" cy="43981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5617EA9-BBFD-9CB4-C31A-5C437F533078}"/>
              </a:ext>
            </a:extLst>
          </p:cNvPr>
          <p:cNvSpPr/>
          <p:nvPr/>
        </p:nvSpPr>
        <p:spPr>
          <a:xfrm>
            <a:off x="9459191" y="2828493"/>
            <a:ext cx="364835" cy="600507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5D0D407-AC8C-5B50-A4BE-5290E0391C15}"/>
              </a:ext>
            </a:extLst>
          </p:cNvPr>
          <p:cNvSpPr/>
          <p:nvPr/>
        </p:nvSpPr>
        <p:spPr>
          <a:xfrm>
            <a:off x="9459191" y="4800420"/>
            <a:ext cx="364835" cy="600507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561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B62C1-F2E0-787E-FFA0-2B7EDA74D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7092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The Hybrid Retrieval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99AEC-30DA-F1C0-6A2E-826FDC2C1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90" y="1332644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b="1" dirty="0">
                <a:solidFill>
                  <a:srgbClr val="800000"/>
                </a:solidFill>
              </a:rPr>
              <a:t>Semantic Understanding + Exact Keyword Matching</a:t>
            </a:r>
          </a:p>
          <a:p>
            <a:pPr marL="0" indent="0" algn="just">
              <a:buNone/>
            </a:pPr>
            <a:endParaRPr lang="en-IN" sz="2200" b="1" dirty="0"/>
          </a:p>
          <a:p>
            <a:pPr algn="just"/>
            <a:r>
              <a:rPr lang="en-IN" sz="2200" b="1" dirty="0"/>
              <a:t>The same clinical concept can be expressed in dozens of different ways: Without semantic understanding, systems miss the link</a:t>
            </a:r>
          </a:p>
          <a:p>
            <a:pPr marL="0" indent="0" algn="just">
              <a:buNone/>
            </a:pPr>
            <a:endParaRPr lang="en-IN" sz="2200" b="1" dirty="0"/>
          </a:p>
          <a:p>
            <a:pPr algn="just"/>
            <a:r>
              <a:rPr lang="en-IN" sz="2200" b="1" dirty="0"/>
              <a:t> Semantic understanding empowers colloquial terms alongside clinical terminology.</a:t>
            </a:r>
          </a:p>
          <a:p>
            <a:pPr marL="0" indent="0" algn="just">
              <a:buNone/>
            </a:pPr>
            <a:endParaRPr lang="en-IN" sz="2200" b="1" dirty="0"/>
          </a:p>
          <a:p>
            <a:pPr algn="just"/>
            <a:r>
              <a:rPr lang="en-IN" sz="2200" b="1" dirty="0"/>
              <a:t>Keyword matching is necessary for looking for HPO codes that ultimately map the condition.  </a:t>
            </a:r>
          </a:p>
          <a:p>
            <a:pPr algn="just"/>
            <a:endParaRPr lang="en-IN" sz="2200" b="1" dirty="0"/>
          </a:p>
          <a:p>
            <a:pPr algn="just"/>
            <a:r>
              <a:rPr lang="en-IN" sz="2200" b="1" dirty="0"/>
              <a:t>Moreover, certain terms are rare and may not be well embedded. Sparse search finds them immediately.</a:t>
            </a:r>
          </a:p>
        </p:txBody>
      </p:sp>
    </p:spTree>
    <p:extLst>
      <p:ext uri="{BB962C8B-B14F-4D97-AF65-F5344CB8AC3E}">
        <p14:creationId xmlns:p14="http://schemas.microsoft.com/office/powerpoint/2010/main" val="114764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DA2A-6E03-3116-40F0-EE8524C47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72" y="-21819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Image Analysis</a:t>
            </a:r>
            <a:endParaRPr lang="en-IN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D24276-C399-973B-6CD9-9C514E4B7B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6346613"/>
              </p:ext>
            </p:extLst>
          </p:nvPr>
        </p:nvGraphicFramePr>
        <p:xfrm>
          <a:off x="2146457" y="2697164"/>
          <a:ext cx="8128000" cy="2910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F8E029-6967-87CF-BC3F-09636D349AB0}"/>
              </a:ext>
            </a:extLst>
          </p:cNvPr>
          <p:cNvSpPr txBox="1"/>
          <p:nvPr/>
        </p:nvSpPr>
        <p:spPr>
          <a:xfrm>
            <a:off x="1193409" y="2947854"/>
            <a:ext cx="4961869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/>
              <a:t>The RAG then uses these queries to enhance the retrieval quality.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9389F-6076-D6AD-1630-962F179567FA}"/>
              </a:ext>
            </a:extLst>
          </p:cNvPr>
          <p:cNvSpPr txBox="1"/>
          <p:nvPr/>
        </p:nvSpPr>
        <p:spPr>
          <a:xfrm>
            <a:off x="3767958" y="992089"/>
            <a:ext cx="7638393" cy="15696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/>
              <a:t>Diagnostic reports such as X-rays, MRI, CT scans, etc. are analysed using the Gemini 2.5 Flash toolkit which generates the relevant symptom queries. </a:t>
            </a:r>
            <a:r>
              <a:rPr lang="en-US" sz="2400" b="1" dirty="0"/>
              <a:t>The multi-modal support improves RAG accuracy.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01820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9DBCF-32FC-2415-EFC7-1187DD12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073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Why Gemini Vision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D9D7-C027-C2CF-58B7-DF4CC0502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131" y="1253331"/>
            <a:ext cx="11581737" cy="4351338"/>
          </a:xfrm>
          <a:solidFill>
            <a:srgbClr val="FFFFCC"/>
          </a:solidFill>
        </p:spPr>
        <p:txBody>
          <a:bodyPr>
            <a:normAutofit fontScale="77500" lnSpcReduction="20000"/>
          </a:bodyPr>
          <a:lstStyle/>
          <a:p>
            <a:pPr algn="just"/>
            <a:endParaRPr lang="en-US" b="1" dirty="0"/>
          </a:p>
          <a:p>
            <a:pPr algn="just"/>
            <a:r>
              <a:rPr lang="en-US" b="1" dirty="0"/>
              <a:t>Gemini 2.5 Flash </a:t>
            </a:r>
            <a:r>
              <a:rPr lang="en-IN" b="1" dirty="0"/>
              <a:t>performs exceptionally well on well-defined, high-contrast structures in modalities.</a:t>
            </a:r>
          </a:p>
          <a:p>
            <a:pPr marL="0" indent="0" algn="just">
              <a:buNone/>
            </a:pPr>
            <a:endParaRPr lang="en-IN" b="1" dirty="0"/>
          </a:p>
          <a:p>
            <a:pPr algn="just"/>
            <a:r>
              <a:rPr lang="en-IN" b="1" dirty="0"/>
              <a:t>Dice scores of 0.824 for optic disc segmentation, 0.766 for colorectal polyps, and 0.761 for skin lesions.</a:t>
            </a:r>
          </a:p>
          <a:p>
            <a:pPr marL="0" indent="0" algn="just">
              <a:buNone/>
            </a:pPr>
            <a:endParaRPr lang="en-IN" b="1" dirty="0"/>
          </a:p>
          <a:p>
            <a:pPr algn="just"/>
            <a:r>
              <a:rPr lang="en-IN" b="1" dirty="0"/>
              <a:t>However, its performance degraded sharply on low-contrast radiological tasks, with scores dropping to 0.071 for liver mass segmentation on CT and 0.035 for pneumothorax detection on chest X-rays</a:t>
            </a:r>
          </a:p>
          <a:p>
            <a:pPr marL="0" indent="0" algn="just">
              <a:buNone/>
            </a:pPr>
            <a:endParaRPr lang="en-IN" b="1" dirty="0"/>
          </a:p>
          <a:p>
            <a:pPr algn="just"/>
            <a:r>
              <a:rPr lang="en-IN" b="1" dirty="0"/>
              <a:t>While Gemini 2.5 Flash is effective for well-defined, high-contrast medical imaging tasks and text processing, it requires careful application and human oversight</a:t>
            </a:r>
          </a:p>
        </p:txBody>
      </p:sp>
    </p:spTree>
    <p:extLst>
      <p:ext uri="{BB962C8B-B14F-4D97-AF65-F5344CB8AC3E}">
        <p14:creationId xmlns:p14="http://schemas.microsoft.com/office/powerpoint/2010/main" val="379865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D174-5D6B-1A87-26D2-D85CA9139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2819"/>
            <a:ext cx="12352282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The Challenge: Disorders with Similar Symptoms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656E8-CB61-EBD5-7F4D-F77110955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915"/>
            <a:ext cx="10515600" cy="4508341"/>
          </a:xfrm>
          <a:solidFill>
            <a:srgbClr val="D3F5D7"/>
          </a:solidFill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 dirty="0"/>
              <a:t>The greatest challenge was to distinguish between disorders having similar symptoms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 dirty="0"/>
              <a:t>To do this, we created a multi-layered retrieval system </a:t>
            </a:r>
            <a:r>
              <a:rPr lang="en-IN" b="1" dirty="0"/>
              <a:t>which annotates each disease with 20+ distinguishing features:</a:t>
            </a:r>
          </a:p>
          <a:p>
            <a:pPr marL="0" indent="0" algn="just">
              <a:buNone/>
            </a:pPr>
            <a:endParaRPr lang="en-IN" b="1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Biochemical markers, typical age of onset, progression rate, gender dominance, inheritance patterns, associated complications and pathognomonic sign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IN" b="1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Hence, we built a contextual awareness layer that rewards conditions with similar patterns while penalizes those that differ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39167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EC30-BA95-8D07-CF41-7E0BAB27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75" y="-7223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The Solution: Context Matters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BF62B-C210-E9B6-31DB-E28A3C9F3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875" y="1253331"/>
            <a:ext cx="11682249" cy="4351338"/>
          </a:xfrm>
          <a:solidFill>
            <a:srgbClr val="D3F5D7"/>
          </a:solidFill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v"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b="1" dirty="0"/>
              <a:t>The RAG studies the patient across relevant parameters such as age of onset, sex, inheritance pattern and distinguishing biochemical markers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b="1" dirty="0"/>
              <a:t>Hybrid search helps identify symptoms unique to a particular condition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b="1" dirty="0"/>
              <a:t>This prevents the RAG from distinguishing conditions having similar symptoms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b="1" dirty="0"/>
              <a:t>Eg: </a:t>
            </a:r>
            <a:r>
              <a:rPr lang="en-IN" b="1" dirty="0"/>
              <a:t>Kayser-Fleischer rings for Wilson disease, pseudohypertrophy for Duchenne MD, salty sweat for cystic fibrosis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55844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7BDEC-AA93-87DC-3876-DE4BDEC1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10" y="-24184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Architecture: A Brief Overview</a:t>
            </a:r>
            <a:endParaRPr lang="en-IN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335477-8630-5393-D110-F53646554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088360"/>
              </p:ext>
            </p:extLst>
          </p:nvPr>
        </p:nvGraphicFramePr>
        <p:xfrm>
          <a:off x="530772" y="1330275"/>
          <a:ext cx="11151477" cy="330111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717159">
                  <a:extLst>
                    <a:ext uri="{9D8B030D-6E8A-4147-A177-3AD203B41FA5}">
                      <a16:colId xmlns:a16="http://schemas.microsoft.com/office/drawing/2014/main" val="3542373510"/>
                    </a:ext>
                  </a:extLst>
                </a:gridCol>
                <a:gridCol w="3717159">
                  <a:extLst>
                    <a:ext uri="{9D8B030D-6E8A-4147-A177-3AD203B41FA5}">
                      <a16:colId xmlns:a16="http://schemas.microsoft.com/office/drawing/2014/main" val="1651284159"/>
                    </a:ext>
                  </a:extLst>
                </a:gridCol>
                <a:gridCol w="3717159">
                  <a:extLst>
                    <a:ext uri="{9D8B030D-6E8A-4147-A177-3AD203B41FA5}">
                      <a16:colId xmlns:a16="http://schemas.microsoft.com/office/drawing/2014/main" val="3692469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Model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Source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Purpose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388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 err="1"/>
                        <a:t>MedCPT</a:t>
                      </a:r>
                      <a:r>
                        <a:rPr lang="en-US" sz="2000" b="1" dirty="0"/>
                        <a:t>-Query-Encoder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Hugging Face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Dense embeddings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53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BM-25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Rank BM-25 library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Sparse embeddings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704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Cross Encoder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Sentence transformer 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Re-ranking retrieved results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92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Gemini 2.5 Flash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Google AI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Medical Image Analysis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95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HPO OBO Ontology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Human Phenotype Ontology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HPO ID to symptom expansion (20,000+ terms)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28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Orphanet Disease Database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Orphanet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75"/>
                        </a:lnSpc>
                        <a:buNone/>
                      </a:pPr>
                      <a:r>
                        <a:rPr lang="en-IN" sz="2000" b="1" dirty="0">
                          <a:effectLst/>
                        </a:rPr>
                        <a:t>10,000+ rare diseases with clinical annotations</a:t>
                      </a:r>
                      <a:endParaRPr lang="en-IN" sz="2000" b="1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112657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228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F2BB7-3784-94C3-BFB2-8C4CEA18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34" y="-17468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Complete Pipeline in Action</a:t>
            </a:r>
            <a:endParaRPr lang="en-IN" b="1" dirty="0">
              <a:solidFill>
                <a:srgbClr val="0000FF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9363950-B290-3462-A866-B8C84CEDA0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9766" y="1095675"/>
            <a:ext cx="9035388" cy="4923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60633A-E46A-799B-8A16-E8B9CCD6D41C}"/>
              </a:ext>
            </a:extLst>
          </p:cNvPr>
          <p:cNvSpPr txBox="1"/>
          <p:nvPr/>
        </p:nvSpPr>
        <p:spPr>
          <a:xfrm>
            <a:off x="3048657" y="3244334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445F75-DF2C-DF90-DB01-F35705CDFFEF}"/>
              </a:ext>
            </a:extLst>
          </p:cNvPr>
          <p:cNvCxnSpPr>
            <a:cxnSpLocks/>
          </p:cNvCxnSpPr>
          <p:nvPr/>
        </p:nvCxnSpPr>
        <p:spPr>
          <a:xfrm>
            <a:off x="10575154" y="1150883"/>
            <a:ext cx="0" cy="4808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328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6F84-3470-1DDC-83B1-613F4050F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18" y="-11677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Query Processing Pipeline</a:t>
            </a:r>
            <a:endParaRPr lang="en-IN" b="1" dirty="0">
              <a:solidFill>
                <a:srgbClr val="0000FF"/>
              </a:solidFill>
            </a:endParaRPr>
          </a:p>
        </p:txBody>
      </p:sp>
      <p:pic>
        <p:nvPicPr>
          <p:cNvPr id="4" name="Content Placeholder 3" descr="AI generated image">
            <a:extLst>
              <a:ext uri="{FF2B5EF4-FFF2-40B4-BE49-F238E27FC236}">
                <a16:creationId xmlns:a16="http://schemas.microsoft.com/office/drawing/2014/main" id="{C6BDDC8C-CEBA-66F2-FE67-E7F639F60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397" y="926266"/>
            <a:ext cx="9638982" cy="517752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FE383A-C5CB-F2A0-8762-85C34C20EE35}"/>
              </a:ext>
            </a:extLst>
          </p:cNvPr>
          <p:cNvCxnSpPr>
            <a:cxnSpLocks/>
          </p:cNvCxnSpPr>
          <p:nvPr/>
        </p:nvCxnSpPr>
        <p:spPr>
          <a:xfrm>
            <a:off x="10799379" y="2025869"/>
            <a:ext cx="0" cy="7488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35B6F1-3E74-DDDC-FD4C-081C5ECA1DBB}"/>
              </a:ext>
            </a:extLst>
          </p:cNvPr>
          <p:cNvCxnSpPr>
            <a:cxnSpLocks/>
          </p:cNvCxnSpPr>
          <p:nvPr/>
        </p:nvCxnSpPr>
        <p:spPr>
          <a:xfrm>
            <a:off x="10796254" y="4632390"/>
            <a:ext cx="0" cy="12008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0282EB6-9854-D832-5DB3-D4B7D6252D53}"/>
              </a:ext>
            </a:extLst>
          </p:cNvPr>
          <p:cNvSpPr/>
          <p:nvPr/>
        </p:nvSpPr>
        <p:spPr>
          <a:xfrm>
            <a:off x="804042" y="1316421"/>
            <a:ext cx="10610192" cy="49897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88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85BF-D584-6E6B-936C-1A65C0563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780" y="11863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MediNova: Unique Features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114F4-F815-1675-6693-06082EDA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280"/>
            <a:ext cx="10515600" cy="4351338"/>
          </a:xfrm>
          <a:solidFill>
            <a:srgbClr val="F5DBF2"/>
          </a:solidFill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/>
              <a:t>Hybrid Retrieval: Balances colloquial terms with scientific terminology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/>
              <a:t> Contextual Awareness: Gender, Age, Onset, Family history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/>
              <a:t> Multi-modal: Text + Images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b="1" dirty="0"/>
              <a:t> Production Performance: 73.6% accuracy for natural language    queries and 91.7% for HPO ids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b="1" dirty="0"/>
              <a:t> Latency &lt; 400ms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12085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A62AE-6A93-0620-AE20-C70EF94D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30" y="22200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Retrieval Performance Breakdown</a:t>
            </a:r>
            <a:endParaRPr lang="en-IN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43E28C-8AC7-C6DF-2C26-23C8981705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125880"/>
              </p:ext>
            </p:extLst>
          </p:nvPr>
        </p:nvGraphicFramePr>
        <p:xfrm>
          <a:off x="838200" y="1825625"/>
          <a:ext cx="10515600" cy="34239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322788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797171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02102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28788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Category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Hit Rate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MRR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Count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565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Classic Symptoms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94.4%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0.9444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481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Biochemical Markers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87.5%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0.8750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166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Name Aliases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62.5%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0.5885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32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013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Gender Specific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68.8%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0.6875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996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Vague Single Symptom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53.3%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0.5333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15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77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Inheritance Terms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100%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0.8667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676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Onset Terms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100%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0.8333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005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Gender Filtering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50%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0.5000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426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993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61F3-55BF-F4A2-320F-923D12DC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47" y="245855"/>
            <a:ext cx="11637398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Evaluation Report: Natural Language Queries</a:t>
            </a:r>
            <a:endParaRPr lang="en-IN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4CC906-958F-22DF-DCA4-5C9261F75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973941"/>
              </p:ext>
            </p:extLst>
          </p:nvPr>
        </p:nvGraphicFramePr>
        <p:xfrm>
          <a:off x="701373" y="1936942"/>
          <a:ext cx="10789254" cy="38404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596418">
                  <a:extLst>
                    <a:ext uri="{9D8B030D-6E8A-4147-A177-3AD203B41FA5}">
                      <a16:colId xmlns:a16="http://schemas.microsoft.com/office/drawing/2014/main" val="3880230809"/>
                    </a:ext>
                  </a:extLst>
                </a:gridCol>
                <a:gridCol w="3596418">
                  <a:extLst>
                    <a:ext uri="{9D8B030D-6E8A-4147-A177-3AD203B41FA5}">
                      <a16:colId xmlns:a16="http://schemas.microsoft.com/office/drawing/2014/main" val="712393139"/>
                    </a:ext>
                  </a:extLst>
                </a:gridCol>
                <a:gridCol w="3596418">
                  <a:extLst>
                    <a:ext uri="{9D8B030D-6E8A-4147-A177-3AD203B41FA5}">
                      <a16:colId xmlns:a16="http://schemas.microsoft.com/office/drawing/2014/main" val="3484248653"/>
                    </a:ext>
                  </a:extLst>
                </a:gridCol>
              </a:tblGrid>
              <a:tr h="447127"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Metric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Value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Note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308589"/>
                  </a:ext>
                </a:extLst>
              </a:tr>
              <a:tr h="447127">
                <a:tc>
                  <a:txBody>
                    <a:bodyPr/>
                    <a:lstStyle/>
                    <a:p>
                      <a:pPr algn="just"/>
                      <a:r>
                        <a:rPr lang="en-US" sz="2400" b="1"/>
                        <a:t>Hit Rate (k=5)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/>
                        <a:t>73.6%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/>
                        <a:t>Expected disease found in top 5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733589"/>
                  </a:ext>
                </a:extLst>
              </a:tr>
              <a:tr h="447127">
                <a:tc>
                  <a:txBody>
                    <a:bodyPr/>
                    <a:lstStyle/>
                    <a:p>
                      <a:pPr algn="just"/>
                      <a:r>
                        <a:rPr lang="en-US" sz="2400" b="1"/>
                        <a:t>Mean Reciprocal Rank (MRR)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/>
                        <a:t>0.7136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b="1" kern="1200">
                          <a:solidFill>
                            <a:schemeClr val="dk1"/>
                          </a:solidFill>
                          <a:effectLst/>
                        </a:rPr>
                        <a:t>Average rank of correct result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623826"/>
                  </a:ext>
                </a:extLst>
              </a:tr>
              <a:tr h="447127">
                <a:tc>
                  <a:txBody>
                    <a:bodyPr/>
                    <a:lstStyle/>
                    <a:p>
                      <a:pPr algn="just"/>
                      <a:r>
                        <a:rPr lang="en-US" sz="2400" b="1"/>
                        <a:t>NDCG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/>
                        <a:t>0.7194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b="1" kern="1200">
                          <a:solidFill>
                            <a:schemeClr val="dk1"/>
                          </a:solidFill>
                          <a:effectLst/>
                        </a:rPr>
                        <a:t>Ranked relevance score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283846"/>
                  </a:ext>
                </a:extLst>
              </a:tr>
              <a:tr h="447127">
                <a:tc>
                  <a:txBody>
                    <a:bodyPr/>
                    <a:lstStyle/>
                    <a:p>
                      <a:pPr algn="just"/>
                      <a:r>
                        <a:rPr lang="en-US" sz="2400" b="1"/>
                        <a:t>Average Query Time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/>
                        <a:t>0.39s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/>
                        <a:t>Per Query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496915"/>
                  </a:ext>
                </a:extLst>
              </a:tr>
              <a:tr h="447127"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/>
                        <a:t>Throughput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/>
                        <a:t>4.5 queries/sec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/>
                        <a:t>Benchmark Performance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353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334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E865-CB1F-29A3-C21B-7F5D7961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732" y="3253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HPO ID Evaluation</a:t>
            </a:r>
            <a:endParaRPr lang="en-IN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8CF471-2EDF-2C49-89F9-1F747A739D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75560"/>
              </p:ext>
            </p:extLst>
          </p:nvPr>
        </p:nvGraphicFramePr>
        <p:xfrm>
          <a:off x="636104" y="1995095"/>
          <a:ext cx="10781308" cy="353913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695327">
                  <a:extLst>
                    <a:ext uri="{9D8B030D-6E8A-4147-A177-3AD203B41FA5}">
                      <a16:colId xmlns:a16="http://schemas.microsoft.com/office/drawing/2014/main" val="3477896026"/>
                    </a:ext>
                  </a:extLst>
                </a:gridCol>
                <a:gridCol w="2695327">
                  <a:extLst>
                    <a:ext uri="{9D8B030D-6E8A-4147-A177-3AD203B41FA5}">
                      <a16:colId xmlns:a16="http://schemas.microsoft.com/office/drawing/2014/main" val="587528464"/>
                    </a:ext>
                  </a:extLst>
                </a:gridCol>
                <a:gridCol w="2695327">
                  <a:extLst>
                    <a:ext uri="{9D8B030D-6E8A-4147-A177-3AD203B41FA5}">
                      <a16:colId xmlns:a16="http://schemas.microsoft.com/office/drawing/2014/main" val="790037996"/>
                    </a:ext>
                  </a:extLst>
                </a:gridCol>
                <a:gridCol w="2695327">
                  <a:extLst>
                    <a:ext uri="{9D8B030D-6E8A-4147-A177-3AD203B41FA5}">
                      <a16:colId xmlns:a16="http://schemas.microsoft.com/office/drawing/2014/main" val="3664164303"/>
                    </a:ext>
                  </a:extLst>
                </a:gridCol>
              </a:tblGrid>
              <a:tr h="50559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Category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Hit Rate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MRR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6600CC"/>
                          </a:solidFill>
                        </a:rPr>
                        <a:t>Count</a:t>
                      </a:r>
                      <a:endParaRPr lang="en-IN" sz="2400" b="1" dirty="0">
                        <a:solidFill>
                          <a:srgbClr val="6600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285091"/>
                  </a:ext>
                </a:extLst>
              </a:tr>
              <a:tr h="50559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HPO Only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100%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1.0000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486256"/>
                  </a:ext>
                </a:extLst>
              </a:tr>
              <a:tr h="50559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HPO + Symptoms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100%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1.0000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369423"/>
                  </a:ext>
                </a:extLst>
              </a:tr>
              <a:tr h="50559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HPO Classic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100%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1.0000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54954"/>
                  </a:ext>
                </a:extLst>
              </a:tr>
              <a:tr h="50559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HPO Biochemical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75%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0.7500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243303"/>
                  </a:ext>
                </a:extLst>
              </a:tr>
              <a:tr h="50559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HPO Rare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100%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1.0000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13971"/>
                  </a:ext>
                </a:extLst>
              </a:tr>
              <a:tr h="50559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Overall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91.7%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0.9167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30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83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61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EE192-6503-C7E3-2009-8FDD8169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25" y="12658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Observation: What Worked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245B-AECD-5EED-90DF-3CD5133C2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51" y="1618890"/>
            <a:ext cx="11871297" cy="4351338"/>
          </a:xfrm>
        </p:spPr>
        <p:txBody>
          <a:bodyPr/>
          <a:lstStyle/>
          <a:p>
            <a:pPr algn="just"/>
            <a:r>
              <a:rPr lang="en-IN" b="1" dirty="0"/>
              <a:t>The classic symptom queries achieved </a:t>
            </a:r>
            <a:r>
              <a:rPr lang="en-IN" b="1" dirty="0">
                <a:solidFill>
                  <a:srgbClr val="800000"/>
                </a:solidFill>
              </a:rPr>
              <a:t>94.4%</a:t>
            </a:r>
            <a:r>
              <a:rPr lang="en-IN" b="1" dirty="0"/>
              <a:t> accuracy because the RAG engine successfully differentiated between similar diseases</a:t>
            </a:r>
          </a:p>
          <a:p>
            <a:pPr marL="0" indent="0" algn="just">
              <a:buNone/>
            </a:pPr>
            <a:endParaRPr lang="en-IN" b="1" dirty="0"/>
          </a:p>
          <a:p>
            <a:pPr algn="just"/>
            <a:r>
              <a:rPr lang="en-IN" b="1" dirty="0"/>
              <a:t>Vague symptom queries dropped to </a:t>
            </a:r>
            <a:r>
              <a:rPr lang="en-IN" b="1" dirty="0">
                <a:solidFill>
                  <a:srgbClr val="800000"/>
                </a:solidFill>
              </a:rPr>
              <a:t>53.3%</a:t>
            </a:r>
            <a:r>
              <a:rPr lang="en-IN" b="1" dirty="0"/>
              <a:t> because the lack of contextual signals made differentiation difficult.</a:t>
            </a:r>
          </a:p>
          <a:p>
            <a:pPr marL="0" indent="0" algn="just">
              <a:buNone/>
            </a:pPr>
            <a:endParaRPr lang="en-IN" b="1" dirty="0"/>
          </a:p>
          <a:p>
            <a:pPr algn="just"/>
            <a:r>
              <a:rPr lang="en-IN" b="1" dirty="0"/>
              <a:t>OBO successfully maps the HPO ids to searchable text, hence </a:t>
            </a:r>
            <a:r>
              <a:rPr lang="en-IN" b="1" dirty="0">
                <a:solidFill>
                  <a:srgbClr val="800000"/>
                </a:solidFill>
              </a:rPr>
              <a:t>91.7%</a:t>
            </a:r>
            <a:r>
              <a:rPr lang="en-IN" b="1" dirty="0"/>
              <a:t> accuracy </a:t>
            </a:r>
          </a:p>
          <a:p>
            <a:pPr algn="just"/>
            <a:endParaRPr lang="en-IN" b="1" dirty="0"/>
          </a:p>
          <a:p>
            <a:pPr marL="0" indent="0" algn="just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791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EC32-E76B-228E-7C93-98CCFAB3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52" y="357174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Observation: What Needs Improvement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54804-EDC4-8BAD-8C97-F42507D20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354" y="1865382"/>
            <a:ext cx="11219291" cy="4351338"/>
          </a:xfrm>
        </p:spPr>
        <p:txBody>
          <a:bodyPr/>
          <a:lstStyle/>
          <a:p>
            <a:pPr algn="just"/>
            <a:r>
              <a:rPr lang="en-US" b="1" dirty="0"/>
              <a:t>Vague symptoms have an accuracy of only </a:t>
            </a:r>
            <a:r>
              <a:rPr lang="en-US" b="1" dirty="0">
                <a:solidFill>
                  <a:srgbClr val="800000"/>
                </a:solidFill>
              </a:rPr>
              <a:t>53.3%</a:t>
            </a:r>
            <a:r>
              <a:rPr lang="en-US" b="1" dirty="0"/>
              <a:t> as lack of contextual input makes differentiation difficult</a:t>
            </a:r>
          </a:p>
          <a:p>
            <a:pPr marL="0" indent="0" algn="just">
              <a:buNone/>
            </a:pPr>
            <a:endParaRPr lang="en-US" b="1" dirty="0"/>
          </a:p>
          <a:p>
            <a:pPr algn="just"/>
            <a:r>
              <a:rPr lang="en-US" b="1" dirty="0"/>
              <a:t>Gender Filtering was achieved successfully only for </a:t>
            </a:r>
            <a:r>
              <a:rPr lang="en-US" b="1" dirty="0">
                <a:solidFill>
                  <a:srgbClr val="800000"/>
                </a:solidFill>
              </a:rPr>
              <a:t>50%</a:t>
            </a:r>
            <a:r>
              <a:rPr lang="en-US" b="1" dirty="0"/>
              <a:t> cases due to complex gender-inheritance pattern</a:t>
            </a:r>
          </a:p>
          <a:p>
            <a:pPr marL="0" indent="0" algn="just">
              <a:buNone/>
            </a:pPr>
            <a:endParaRPr lang="en-US" b="1" dirty="0"/>
          </a:p>
          <a:p>
            <a:pPr algn="just"/>
            <a:r>
              <a:rPr lang="en-US" b="1" dirty="0"/>
              <a:t>Name Aliases could be detected only for </a:t>
            </a:r>
            <a:r>
              <a:rPr lang="en-US" b="1" dirty="0">
                <a:solidFill>
                  <a:srgbClr val="800000"/>
                </a:solidFill>
              </a:rPr>
              <a:t>62.5%</a:t>
            </a:r>
            <a:r>
              <a:rPr lang="en-US" b="1" dirty="0"/>
              <a:t> cases as a condition might have multiple names</a:t>
            </a:r>
          </a:p>
        </p:txBody>
      </p:sp>
    </p:spTree>
    <p:extLst>
      <p:ext uri="{BB962C8B-B14F-4D97-AF65-F5344CB8AC3E}">
        <p14:creationId xmlns:p14="http://schemas.microsoft.com/office/powerpoint/2010/main" val="2677203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4B2A-8F4E-B7E9-3DB3-F3EF98AA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94" y="3174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Scope for Improvement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97C02-DDD7-8351-3803-BD7F5B036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8505"/>
            <a:ext cx="10515600" cy="4351338"/>
          </a:xfrm>
        </p:spPr>
        <p:txBody>
          <a:bodyPr/>
          <a:lstStyle/>
          <a:p>
            <a:pPr algn="just"/>
            <a:r>
              <a:rPr lang="en-US" b="1" dirty="0"/>
              <a:t>Vague symptoms: Follow up questions could be added for ambiguous queries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Gender filtering: Enhanced gender-inheritance rules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Name alias: Build a comprehensive alias database, even expand to multiple Indian languages for regional names</a:t>
            </a:r>
          </a:p>
        </p:txBody>
      </p:sp>
    </p:spTree>
    <p:extLst>
      <p:ext uri="{BB962C8B-B14F-4D97-AF65-F5344CB8AC3E}">
        <p14:creationId xmlns:p14="http://schemas.microsoft.com/office/powerpoint/2010/main" val="3982549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902EB-CD84-B49D-8FF0-97AA23DB8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References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8E1B-3917-524F-C0D8-18206D026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IN" dirty="0"/>
              <a:t>Do J, et al. "Evaluating Conversational Image Segmentation for Medicine." </a:t>
            </a:r>
            <a:r>
              <a:rPr lang="en-IN" dirty="0" err="1"/>
              <a:t>medRxiv</a:t>
            </a:r>
            <a:r>
              <a:rPr lang="en-IN" dirty="0"/>
              <a:t> 2025. </a:t>
            </a:r>
            <a:r>
              <a:rPr lang="en-IN" dirty="0">
                <a:hlinkClick r:id="rId2"/>
              </a:rPr>
              <a:t>https://www.medrxiv.org/content/10.1101/2025.11.21.25340008v1</a:t>
            </a: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/>
              <a:t>Nakaura T, et al. "Performance of State-of-the-Art Multimodal Large Language Models on an Image-Rich Radiology Board Examination." Academic Radiology 2026. </a:t>
            </a:r>
            <a:r>
              <a:rPr lang="en-IN" dirty="0">
                <a:hlinkClick r:id="rId3"/>
              </a:rPr>
              <a:t>https://www.sciencedirect.com/science/article/pii/S1076633225010372</a:t>
            </a: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/>
              <a:t>Truong T, et al. "Towards Selection of Large Multimodal Models as Engines for Burned-in Protected Health Information Detection." </a:t>
            </a:r>
            <a:r>
              <a:rPr lang="en-IN" dirty="0" err="1"/>
              <a:t>arXiv</a:t>
            </a:r>
            <a:r>
              <a:rPr lang="en-IN" dirty="0"/>
              <a:t> 2025. </a:t>
            </a:r>
            <a:r>
              <a:rPr lang="en-IN" dirty="0">
                <a:hlinkClick r:id="rId4"/>
              </a:rPr>
              <a:t>https://ar5iv.labs.arxiv.org/html/2511.02014</a:t>
            </a: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/>
              <a:t>"Large language models for structuring knee ultrasound reports." PubMed 2026. </a:t>
            </a:r>
            <a:r>
              <a:rPr lang="en-IN" dirty="0">
                <a:hlinkClick r:id="rId5"/>
              </a:rPr>
              <a:t>https://pubmed.ncbi.nlm.nih.gov/41772565/</a:t>
            </a: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/>
              <a:t>"Evaluation of LLM Performance on Japanese National Examination for Radiological Technologists." J-Stage 2026. </a:t>
            </a:r>
            <a:r>
              <a:rPr lang="en-IN" dirty="0">
                <a:hlinkClick r:id="rId6"/>
              </a:rPr>
              <a:t>https://www.jstage.jst.go.jp/article/jjrt/82/5/82_26-1639/_html/-char/en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745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48A6-7925-6283-8D8F-7297768F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276905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FF"/>
                </a:solidFill>
                <a:latin typeface="Algerian" panose="04020705040A02060702" pitchFamily="82" charset="0"/>
              </a:rPr>
              <a:t>Thank you</a:t>
            </a:r>
            <a:endParaRPr lang="en-IN" sz="6000" dirty="0">
              <a:solidFill>
                <a:srgbClr val="0000FF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656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1242</Words>
  <Application>Microsoft Office PowerPoint</Application>
  <PresentationFormat>Widescreen</PresentationFormat>
  <Paragraphs>232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Algerian</vt:lpstr>
      <vt:lpstr>Aptos</vt:lpstr>
      <vt:lpstr>Aptos Display</vt:lpstr>
      <vt:lpstr>Arial</vt:lpstr>
      <vt:lpstr>quote-cjk-patch</vt:lpstr>
      <vt:lpstr>Wingdings</vt:lpstr>
      <vt:lpstr>Office Theme</vt:lpstr>
      <vt:lpstr>🧬 MediNova</vt:lpstr>
      <vt:lpstr>The Problem: Diagnostic Odyssey</vt:lpstr>
      <vt:lpstr>Time: The Greatest Enemy</vt:lpstr>
      <vt:lpstr>The Solution: RAGnosis</vt:lpstr>
      <vt:lpstr>PowerPoint Presentation</vt:lpstr>
      <vt:lpstr>MediNova: The Pipeline</vt:lpstr>
      <vt:lpstr>The Hybrid Retrieval</vt:lpstr>
      <vt:lpstr>Image Analysis</vt:lpstr>
      <vt:lpstr>Why Gemini Vision</vt:lpstr>
      <vt:lpstr>The Challenge: Disorders with Similar Symptoms</vt:lpstr>
      <vt:lpstr>The Solution: Context Matters</vt:lpstr>
      <vt:lpstr>Architecture: A Brief Overview</vt:lpstr>
      <vt:lpstr>Complete Pipeline in Action</vt:lpstr>
      <vt:lpstr>Query Processing Pipeline</vt:lpstr>
      <vt:lpstr>MediNova: Unique Features</vt:lpstr>
      <vt:lpstr>Retrieval Performance Breakdown</vt:lpstr>
      <vt:lpstr>Evaluation Report: Natural Language Queries</vt:lpstr>
      <vt:lpstr>HPO ID Evaluation</vt:lpstr>
      <vt:lpstr>Observation: What Worked Well</vt:lpstr>
      <vt:lpstr>Observation: What Needs Improvement</vt:lpstr>
      <vt:lpstr>Scope for Improvement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Ankur Ghosh</dc:creator>
  <cp:lastModifiedBy>Ankur Ghosh</cp:lastModifiedBy>
  <cp:revision>28</cp:revision>
  <dcterms:created xsi:type="dcterms:W3CDTF">2026-06-20T15:16:05Z</dcterms:created>
  <dcterms:modified xsi:type="dcterms:W3CDTF">2026-06-21T15:49:23Z</dcterms:modified>
</cp:coreProperties>
</file>